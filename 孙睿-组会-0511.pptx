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210" y="1479550"/>
            <a:ext cx="9144000" cy="6731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110" b="1" dirty="0"/>
              <a:t>Solid Recover: construct single cell multiomic pretrain model by single omic model alignment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8683"/>
            <a:ext cx="9144000" cy="1655762"/>
          </a:xfrm>
        </p:spPr>
        <p:txBody>
          <a:bodyPr/>
          <a:lstStyle/>
          <a:p>
            <a:r>
              <a:rPr lang="zh-CN" altLang="en-US"/>
              <a:t>孙睿</a:t>
            </a:r>
            <a:r>
              <a:rPr lang="en-US" altLang="zh-CN"/>
              <a:t> 2025-05.11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175895"/>
            <a:ext cx="10515600" cy="1325563"/>
          </a:xfrm>
        </p:spPr>
        <p:txBody>
          <a:bodyPr/>
          <a:lstStyle/>
          <a:p>
            <a:r>
              <a:rPr lang="zh-CN" altLang="en-US"/>
              <a:t>背景：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334770"/>
            <a:ext cx="10515600" cy="24866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/>
              <a:t>1. </a:t>
            </a:r>
            <a:r>
              <a:rPr lang="zh-CN" altLang="en-US" sz="2000"/>
              <a:t>单细胞多组学数据</a:t>
            </a:r>
            <a:r>
              <a:rPr lang="en-US" altLang="zh-CN" sz="2000"/>
              <a:t>(scRNA-seq + scATAC-seq)</a:t>
            </a:r>
            <a:r>
              <a:rPr lang="zh-CN" altLang="en-US" sz="2000"/>
              <a:t>，给出了细胞在转录组学和表观组学两个层面的观测，在细胞类型识别、基因调控关系推断上提供了比单组学数据更全面的证据。</a:t>
            </a:r>
          </a:p>
          <a:p>
            <a:pPr marL="0" indent="0">
              <a:buNone/>
            </a:pPr>
            <a:r>
              <a:rPr lang="en-US" altLang="zh-CN" sz="2000"/>
              <a:t>2. </a:t>
            </a:r>
            <a:r>
              <a:rPr lang="zh-CN" altLang="en-US" sz="2000"/>
              <a:t>多组学数据通常具有更高的噪音，需要设计合适的模型来改善数据分析的结果。</a:t>
            </a:r>
          </a:p>
          <a:p>
            <a:pPr marL="0" indent="0">
              <a:buNone/>
            </a:pPr>
            <a:r>
              <a:rPr lang="en-US" altLang="zh-CN" sz="2000"/>
              <a:t>3. </a:t>
            </a:r>
            <a:r>
              <a:rPr lang="en-US" altLang="zh-CN" sz="2000">
                <a:sym typeface="+mn-ea"/>
              </a:rPr>
              <a:t>scRNA-seq</a:t>
            </a:r>
            <a:r>
              <a:rPr lang="zh-CN" altLang="en-US" sz="2000">
                <a:sym typeface="+mn-ea"/>
              </a:rPr>
              <a:t>预训练模型在多个下游任务上提升了</a:t>
            </a:r>
            <a:r>
              <a:rPr lang="en-US" altLang="zh-CN" sz="2000">
                <a:sym typeface="+mn-ea"/>
              </a:rPr>
              <a:t>scRNA-seq</a:t>
            </a:r>
            <a:r>
              <a:rPr lang="zh-CN" altLang="en-US" sz="2000">
                <a:sym typeface="+mn-ea"/>
              </a:rPr>
              <a:t>数据分析的表现，展示了预训练模型在生物学发现中的潜力。</a:t>
            </a:r>
          </a:p>
          <a:p>
            <a:pPr marL="0" indent="0">
              <a:buNone/>
            </a:pPr>
            <a:r>
              <a:rPr lang="en-US" altLang="zh-CN" sz="2000">
                <a:sym typeface="+mn-ea"/>
              </a:rPr>
              <a:t>4. </a:t>
            </a:r>
            <a:r>
              <a:rPr lang="zh-CN" altLang="en-US" sz="2000">
                <a:sym typeface="+mn-ea"/>
              </a:rPr>
              <a:t>对于多组学数据，受限于数据数量以及</a:t>
            </a:r>
            <a:r>
              <a:rPr lang="en-US" altLang="zh-CN" sz="2000">
                <a:sym typeface="+mn-ea"/>
              </a:rPr>
              <a:t>scATAC-seq</a:t>
            </a:r>
            <a:r>
              <a:rPr lang="zh-CN" altLang="en-US" sz="2000">
                <a:sym typeface="+mn-ea"/>
              </a:rPr>
              <a:t>数据的超高维度，当前缺少通过预训练策略来改进多组学数据分析能力的模型。</a:t>
            </a:r>
          </a:p>
          <a:p>
            <a:pPr marL="0" indent="0">
              <a:buNone/>
            </a:pPr>
            <a:endParaRPr lang="en-US" altLang="zh-CN" sz="20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99745" y="4135755"/>
            <a:ext cx="34550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主要贡献：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7065" y="4862195"/>
            <a:ext cx="10385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</a:t>
            </a:r>
            <a:r>
              <a:rPr lang="zh-CN" altLang="en-US"/>
              <a:t>通过</a:t>
            </a:r>
            <a:r>
              <a:rPr lang="en-US" altLang="zh-CN"/>
              <a:t> “</a:t>
            </a:r>
            <a:r>
              <a:rPr lang="zh-CN" altLang="en-US"/>
              <a:t>单模态预训练</a:t>
            </a:r>
            <a:r>
              <a:rPr lang="en-US" altLang="zh-CN"/>
              <a:t> + </a:t>
            </a:r>
            <a:r>
              <a:rPr lang="zh-CN" altLang="en-US"/>
              <a:t>多模态对齐</a:t>
            </a:r>
            <a:r>
              <a:rPr lang="en-US" altLang="zh-CN"/>
              <a:t>” </a:t>
            </a:r>
            <a:r>
              <a:rPr lang="zh-CN" altLang="en-US"/>
              <a:t>的方式，缓解了单细胞多组学数据数量不足的问题。</a:t>
            </a:r>
          </a:p>
          <a:p>
            <a:r>
              <a:rPr lang="en-US" altLang="zh-CN"/>
              <a:t>2. </a:t>
            </a:r>
            <a:r>
              <a:rPr lang="zh-CN" altLang="en-US"/>
              <a:t>通过</a:t>
            </a:r>
            <a:r>
              <a:rPr lang="en-US" altLang="zh-CN"/>
              <a:t>gene activity </a:t>
            </a:r>
            <a:r>
              <a:rPr lang="zh-CN" altLang="en-US"/>
              <a:t>的策略解决了</a:t>
            </a:r>
            <a:r>
              <a:rPr lang="en-US" altLang="zh-CN"/>
              <a:t>scATAC-seq</a:t>
            </a:r>
            <a:r>
              <a:rPr lang="zh-CN" altLang="en-US"/>
              <a:t>数据特征不统一以及高维稀疏的问题。</a:t>
            </a:r>
          </a:p>
          <a:p>
            <a:r>
              <a:rPr lang="en-US" altLang="zh-CN"/>
              <a:t>3. </a:t>
            </a:r>
            <a:r>
              <a:rPr lang="zh-CN" altLang="en-US"/>
              <a:t>预训练得到的</a:t>
            </a:r>
            <a:r>
              <a:rPr lang="en-US" altLang="zh-CN"/>
              <a:t>SR</a:t>
            </a:r>
            <a:r>
              <a:rPr lang="zh-CN" altLang="en-US"/>
              <a:t>模型，在多个下游任务，跨模态匹配、跨模态生成、</a:t>
            </a:r>
            <a:r>
              <a:rPr lang="en-US" altLang="zh-CN"/>
              <a:t>GRN</a:t>
            </a:r>
            <a:r>
              <a:rPr lang="zh-CN" altLang="en-US"/>
              <a:t>推断上实现了提升。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14240" cy="1140460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SR</a:t>
            </a:r>
            <a:r>
              <a:rPr lang="zh-CN" altLang="en-US"/>
              <a:t>方法：</a:t>
            </a:r>
            <a:br>
              <a:rPr lang="zh-CN" altLang="en-US"/>
            </a:br>
            <a:br>
              <a:rPr lang="zh-CN" altLang="en-US"/>
            </a:br>
            <a:endParaRPr lang="zh-CN" altLang="en-US" sz="200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2130" y="454660"/>
            <a:ext cx="6062980" cy="2827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160" y="3246755"/>
            <a:ext cx="5837555" cy="34163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99110" y="755015"/>
            <a:ext cx="426021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Phase 1: </a:t>
            </a:r>
            <a:r>
              <a:rPr lang="zh-CN" altLang="en-US" b="1">
                <a:sym typeface="+mn-ea"/>
              </a:rPr>
              <a:t>单模态预训练阶段：</a:t>
            </a:r>
            <a:br>
              <a:rPr lang="en-US" altLang="zh-CN">
                <a:sym typeface="+mn-ea"/>
              </a:rPr>
            </a:br>
            <a:r>
              <a:rPr lang="zh-CN" altLang="en-US">
                <a:sym typeface="+mn-ea"/>
              </a:rPr>
              <a:t>分别进行单组学模型的预训练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AutoEncoder</a:t>
            </a:r>
            <a:r>
              <a:rPr lang="zh-CN" altLang="en-US">
                <a:sym typeface="+mn-ea"/>
              </a:rPr>
              <a:t>模型，</a:t>
            </a:r>
            <a:r>
              <a:rPr lang="en-US" altLang="zh-CN">
                <a:sym typeface="+mn-ea"/>
              </a:rPr>
              <a:t>MSE_LOSS </a:t>
            </a:r>
            <a:br>
              <a:rPr lang="en-US" altLang="zh-CN">
                <a:sym typeface="+mn-ea"/>
              </a:rPr>
            </a:br>
            <a:br>
              <a:rPr lang="en-US" altLang="zh-CN">
                <a:sym typeface="+mn-ea"/>
              </a:rPr>
            </a:br>
            <a:r>
              <a:rPr lang="en-US" altLang="zh-CN" b="1">
                <a:sym typeface="+mn-ea"/>
              </a:rPr>
              <a:t>Phase 2: </a:t>
            </a:r>
            <a:r>
              <a:rPr lang="zh-CN" altLang="en-US" b="1">
                <a:sym typeface="+mn-ea"/>
              </a:rPr>
              <a:t>多模态对齐阶段：</a:t>
            </a:r>
          </a:p>
          <a:p>
            <a:r>
              <a:rPr lang="zh-CN" altLang="en-US"/>
              <a:t>多组学数据指导对齐，</a:t>
            </a:r>
            <a:r>
              <a:rPr lang="en-US" altLang="zh-CN"/>
              <a:t> </a:t>
            </a:r>
          </a:p>
          <a:p>
            <a:r>
              <a:rPr lang="en-US" altLang="zh-CN"/>
              <a:t>Clip_loss + cross_omic_prediction_loss</a:t>
            </a:r>
          </a:p>
          <a:p>
            <a:endParaRPr lang="en-US" altLang="zh-CN"/>
          </a:p>
          <a:p>
            <a:r>
              <a:rPr lang="zh-CN" altLang="en-US" b="1"/>
              <a:t>训练数据：</a:t>
            </a:r>
          </a:p>
          <a:p>
            <a:r>
              <a:rPr lang="zh-CN" altLang="en-US"/>
              <a:t>小鼠全脑</a:t>
            </a:r>
            <a:r>
              <a:rPr lang="en-US" altLang="zh-CN"/>
              <a:t>snATAC-seq(1.2M)</a:t>
            </a:r>
          </a:p>
          <a:p>
            <a:r>
              <a:rPr lang="zh-CN" altLang="en-US"/>
              <a:t>小鼠全脑</a:t>
            </a:r>
            <a:r>
              <a:rPr lang="en-US" altLang="zh-CN"/>
              <a:t>scRNA-seq(4M)</a:t>
            </a:r>
          </a:p>
          <a:p>
            <a:r>
              <a:rPr lang="zh-CN" altLang="en-US"/>
              <a:t>小鼠</a:t>
            </a:r>
            <a:r>
              <a:rPr lang="en-US" altLang="zh-CN"/>
              <a:t>8</a:t>
            </a:r>
            <a:r>
              <a:rPr lang="zh-CN" altLang="en-US"/>
              <a:t>个脑区</a:t>
            </a:r>
            <a:r>
              <a:rPr lang="en-US" altLang="zh-CN"/>
              <a:t>sc-multiomic(80k)</a:t>
            </a:r>
          </a:p>
          <a:p>
            <a:endParaRPr lang="en-US" altLang="zh-CN"/>
          </a:p>
          <a:p>
            <a:r>
              <a:rPr lang="zh-CN" altLang="en-US"/>
              <a:t>通过两阶段的训练，</a:t>
            </a:r>
            <a:r>
              <a:rPr lang="en-US" altLang="zh-CN"/>
              <a:t>SR</a:t>
            </a:r>
            <a:r>
              <a:rPr lang="zh-CN" altLang="en-US"/>
              <a:t>模型能够：</a:t>
            </a:r>
          </a:p>
          <a:p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给出单组学数据的细胞表征</a:t>
            </a:r>
          </a:p>
          <a:p>
            <a:r>
              <a:rPr lang="en-US" altLang="zh-CN"/>
              <a:t>2. </a:t>
            </a:r>
            <a:r>
              <a:rPr lang="zh-CN" altLang="en-US"/>
              <a:t>将多组学数据不同组学的表征嵌入到相同空间。</a:t>
            </a:r>
          </a:p>
          <a:p>
            <a:r>
              <a:rPr lang="en-US" altLang="zh-CN"/>
              <a:t>3. </a:t>
            </a:r>
            <a:r>
              <a:rPr lang="zh-CN" altLang="en-US"/>
              <a:t>基于单组学数据生成缺失组学数据，用于下游分析。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/>
              <a:t>下游任务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95" y="1691005"/>
            <a:ext cx="4573270" cy="3645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945" y="1808480"/>
            <a:ext cx="1679575" cy="1562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945" y="4645660"/>
            <a:ext cx="1743075" cy="16294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021580" y="1445895"/>
            <a:ext cx="1953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known omic data</a:t>
            </a:r>
          </a:p>
        </p:txBody>
      </p:sp>
      <p:cxnSp>
        <p:nvCxnSpPr>
          <p:cNvPr id="8" name="Straight Arrow Connector 7"/>
          <p:cNvCxnSpPr>
            <a:stCxn id="5" idx="2"/>
            <a:endCxn id="6" idx="0"/>
          </p:cNvCxnSpPr>
          <p:nvPr/>
        </p:nvCxnSpPr>
        <p:spPr>
          <a:xfrm>
            <a:off x="5988050" y="3370580"/>
            <a:ext cx="31750" cy="12750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5021580" y="3696335"/>
            <a:ext cx="211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SR-model prediction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975225" y="4277360"/>
            <a:ext cx="215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unknown omic data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775" y="2017395"/>
            <a:ext cx="4818380" cy="2503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9960" y="1003300"/>
            <a:ext cx="1925955" cy="2748915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在跨数据集预测上，</a:t>
            </a:r>
            <a:r>
              <a:rPr lang="en-US" altLang="zh-CN" sz="1600" dirty="0" err="1"/>
              <a:t>sc_pretrain_large</a:t>
            </a:r>
            <a:r>
              <a:rPr lang="zh-CN" altLang="en-US" sz="1600" dirty="0"/>
              <a:t>效果最好，</a:t>
            </a:r>
            <a:r>
              <a:rPr lang="en-US" altLang="zh-CN" sz="1600" dirty="0" err="1"/>
              <a:t>Multivi</a:t>
            </a:r>
            <a:r>
              <a:rPr lang="en-US" altLang="zh-CN" sz="1600" dirty="0"/>
              <a:t> </a:t>
            </a:r>
            <a:r>
              <a:rPr lang="zh-CN" altLang="en-US" sz="1600" dirty="0"/>
              <a:t>第三位，</a:t>
            </a:r>
            <a:r>
              <a:rPr lang="en-US" altLang="zh-CN" sz="1600" dirty="0" err="1"/>
              <a:t>sc_scratch_large</a:t>
            </a:r>
            <a:r>
              <a:rPr lang="zh-CN" altLang="en-US" sz="1600" dirty="0"/>
              <a:t>仅优于</a:t>
            </a:r>
            <a:r>
              <a:rPr lang="en-US" altLang="zh-CN" sz="1600" dirty="0" err="1"/>
              <a:t>cobolt</a:t>
            </a:r>
            <a:endParaRPr lang="en-US" altLang="zh-CN" sz="1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7630"/>
            <a:ext cx="9832975" cy="6531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75" y="243840"/>
            <a:ext cx="4794250" cy="2261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0"/>
            <a:ext cx="5488940" cy="30505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319780"/>
            <a:ext cx="5701665" cy="324802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84835" y="3160395"/>
            <a:ext cx="48342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对比方法：</a:t>
            </a:r>
          </a:p>
          <a:p>
            <a:r>
              <a:rPr lang="en-US" altLang="zh-CN"/>
              <a:t>1.cobolt (2021, Genome biology)</a:t>
            </a:r>
          </a:p>
          <a:p>
            <a:r>
              <a:rPr lang="en-US" altLang="zh-CN"/>
              <a:t>2. multiVI (2023, Nature Methods)</a:t>
            </a:r>
          </a:p>
          <a:p>
            <a:r>
              <a:rPr lang="en-US" altLang="zh-CN"/>
              <a:t>3. scButterfly (2024, NC)</a:t>
            </a:r>
          </a:p>
          <a:p>
            <a:r>
              <a:rPr lang="en-US" altLang="zh-CN"/>
              <a:t>4. scpair (2024, NC)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14525"/>
            <a:ext cx="3168650" cy="3538220"/>
          </a:xfrm>
        </p:spPr>
        <p:txBody>
          <a:bodyPr/>
          <a:lstStyle/>
          <a:p>
            <a:r>
              <a:rPr lang="zh-CN" altLang="en-US"/>
              <a:t>左上：</a:t>
            </a:r>
            <a:r>
              <a:rPr lang="en-US" altLang="zh-CN"/>
              <a:t>cobolt</a:t>
            </a:r>
          </a:p>
          <a:p>
            <a:r>
              <a:rPr lang="zh-CN" altLang="en-US"/>
              <a:t>右上：</a:t>
            </a:r>
            <a:r>
              <a:rPr lang="en-US" altLang="zh-CN"/>
              <a:t> multiVI</a:t>
            </a:r>
          </a:p>
          <a:p>
            <a:r>
              <a:rPr lang="zh-CN" altLang="en-US"/>
              <a:t>左下：</a:t>
            </a:r>
            <a:r>
              <a:rPr lang="en-US" altLang="zh-CN"/>
              <a:t> scpair</a:t>
            </a:r>
          </a:p>
          <a:p>
            <a:r>
              <a:rPr lang="zh-CN" altLang="en-US"/>
              <a:t>右下：</a:t>
            </a:r>
            <a:r>
              <a:rPr lang="en-US" altLang="zh-CN"/>
              <a:t> SR</a:t>
            </a:r>
          </a:p>
        </p:txBody>
      </p:sp>
      <p:pic>
        <p:nvPicPr>
          <p:cNvPr id="9" name="Picture 8" descr="cobol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57150"/>
            <a:ext cx="4437380" cy="3074670"/>
          </a:xfrm>
          <a:prstGeom prst="rect">
            <a:avLst/>
          </a:prstGeom>
        </p:spPr>
      </p:pic>
      <p:pic>
        <p:nvPicPr>
          <p:cNvPr id="11" name="Picture 10" descr="mv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164465"/>
            <a:ext cx="3194685" cy="2860040"/>
          </a:xfrm>
          <a:prstGeom prst="rect">
            <a:avLst/>
          </a:prstGeom>
        </p:spPr>
      </p:pic>
      <p:pic>
        <p:nvPicPr>
          <p:cNvPr id="14" name="Picture 13" descr="scpai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10" y="3339465"/>
            <a:ext cx="4369435" cy="3027680"/>
          </a:xfrm>
          <a:prstGeom prst="rect">
            <a:avLst/>
          </a:prstGeom>
        </p:spPr>
      </p:pic>
      <p:pic>
        <p:nvPicPr>
          <p:cNvPr id="15" name="Picture 14" descr="s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710" y="3339465"/>
            <a:ext cx="4225290" cy="2938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220">
                <a:sym typeface="+mn-ea"/>
              </a:rPr>
              <a:t>跨模态预测：</a:t>
            </a:r>
            <a:br>
              <a:rPr lang="zh-CN" altLang="en-US" sz="2220">
                <a:sym typeface="+mn-ea"/>
              </a:rPr>
            </a:br>
            <a:r>
              <a:rPr lang="zh-CN" altLang="en-US" sz="2220">
                <a:sym typeface="+mn-ea"/>
              </a:rPr>
              <a:t>使用</a:t>
            </a:r>
            <a:r>
              <a:rPr lang="en-US" altLang="zh-CN" sz="2220">
                <a:sym typeface="+mn-ea"/>
              </a:rPr>
              <a:t>ATAC</a:t>
            </a:r>
            <a:r>
              <a:rPr lang="zh-CN" altLang="en-US" sz="2220">
                <a:sym typeface="+mn-ea"/>
              </a:rPr>
              <a:t>数据预测</a:t>
            </a:r>
            <a:r>
              <a:rPr lang="en-US" altLang="zh-CN" sz="2220">
                <a:sym typeface="+mn-ea"/>
              </a:rPr>
              <a:t>RNA</a:t>
            </a:r>
            <a:r>
              <a:rPr lang="zh-CN" altLang="en-US" sz="2220">
                <a:sym typeface="+mn-ea"/>
              </a:rPr>
              <a:t>表达，对预测的基因表达和原始基因表达计算皮尔森相关性</a:t>
            </a:r>
            <a:endParaRPr lang="en-US" sz="222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615" y="2002155"/>
            <a:ext cx="4351655" cy="3544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25" y="2002155"/>
            <a:ext cx="5877560" cy="3775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2400"/>
              <a:t>改善</a:t>
            </a:r>
            <a:r>
              <a:rPr lang="en-US" altLang="zh-CN" sz="2400"/>
              <a:t>GRN</a:t>
            </a:r>
            <a:r>
              <a:rPr lang="zh-CN" altLang="en-US" sz="2400"/>
              <a:t>推断：</a:t>
            </a:r>
            <a:br>
              <a:rPr lang="zh-CN" altLang="en-US" sz="2400"/>
            </a:br>
            <a:r>
              <a:rPr lang="zh-CN" altLang="en-US" sz="2400"/>
              <a:t>左侧是用</a:t>
            </a:r>
            <a:r>
              <a:rPr lang="en-US" altLang="zh-CN" sz="2400"/>
              <a:t>scenic</a:t>
            </a:r>
            <a:r>
              <a:rPr lang="zh-CN" altLang="en-US" sz="2400"/>
              <a:t>，只用</a:t>
            </a:r>
            <a:r>
              <a:rPr lang="en-US" altLang="zh-CN" sz="2400"/>
              <a:t>RNA</a:t>
            </a:r>
            <a:r>
              <a:rPr lang="zh-CN" altLang="en-US" sz="2400"/>
              <a:t>推断的小鼠海马调控的效果，右侧是整合</a:t>
            </a:r>
            <a:r>
              <a:rPr lang="en-US" altLang="zh-CN" sz="2400"/>
              <a:t>SR</a:t>
            </a:r>
            <a:r>
              <a:rPr lang="zh-CN" altLang="en-US" sz="2400"/>
              <a:t>推断出的</a:t>
            </a:r>
            <a:r>
              <a:rPr lang="en-US" altLang="zh-CN" sz="2400"/>
              <a:t>gene activity</a:t>
            </a:r>
            <a:r>
              <a:rPr lang="zh-CN" altLang="en-US" sz="2400"/>
              <a:t>数据，修正后的调控网络推断效果，生成的</a:t>
            </a:r>
            <a:r>
              <a:rPr lang="en-US" altLang="zh-CN" sz="2400"/>
              <a:t>GA</a:t>
            </a:r>
            <a:r>
              <a:rPr lang="zh-CN" altLang="en-US" sz="2400"/>
              <a:t>数据能够改善</a:t>
            </a:r>
            <a:r>
              <a:rPr lang="en-US" altLang="zh-CN" sz="2400"/>
              <a:t>GRN</a:t>
            </a:r>
            <a:r>
              <a:rPr lang="zh-CN" altLang="en-US" sz="2400"/>
              <a:t>推断效果。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675" y="2129155"/>
            <a:ext cx="5153025" cy="3743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2129155"/>
            <a:ext cx="5076825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DO: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zh-CN" altLang="en-US"/>
              <a:t>额外组织或者其他物种训练，展示除小鼠脑区外的分析</a:t>
            </a:r>
            <a:r>
              <a:rPr lang="en-US" altLang="zh-CN"/>
              <a:t>case</a:t>
            </a:r>
          </a:p>
          <a:p>
            <a:r>
              <a:rPr lang="en-US" altLang="zh-CN"/>
              <a:t>2. GRN</a:t>
            </a:r>
            <a:r>
              <a:rPr lang="zh-CN" altLang="en-US"/>
              <a:t>推断和跨模态预测的更细致的评估，通过具体的分析</a:t>
            </a:r>
            <a:r>
              <a:rPr lang="en-US" altLang="zh-CN"/>
              <a:t>case</a:t>
            </a:r>
            <a:r>
              <a:rPr lang="zh-CN" altLang="en-US"/>
              <a:t>展示模型用途。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0066342-3802-60B0-ADAA-590609BC0806}"/>
              </a:ext>
            </a:extLst>
          </p:cNvPr>
          <p:cNvSpPr/>
          <p:nvPr/>
        </p:nvSpPr>
        <p:spPr>
          <a:xfrm>
            <a:off x="190244" y="171834"/>
            <a:ext cx="6265788" cy="4308112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812BCA-DB84-16B1-863E-76C82723F64F}"/>
              </a:ext>
            </a:extLst>
          </p:cNvPr>
          <p:cNvSpPr/>
          <p:nvPr/>
        </p:nvSpPr>
        <p:spPr>
          <a:xfrm>
            <a:off x="667197" y="792683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7F831F-6460-6EA6-D4F0-F272191D7408}"/>
              </a:ext>
            </a:extLst>
          </p:cNvPr>
          <p:cNvSpPr/>
          <p:nvPr/>
        </p:nvSpPr>
        <p:spPr>
          <a:xfrm>
            <a:off x="687334" y="2981517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CAD59F-679F-5AD3-B4FD-6667CEA5B85C}"/>
              </a:ext>
            </a:extLst>
          </p:cNvPr>
          <p:cNvSpPr/>
          <p:nvPr/>
        </p:nvSpPr>
        <p:spPr>
          <a:xfrm>
            <a:off x="2957992" y="329347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13FB8F-DAD3-0C4D-074E-D67D5277AB3C}"/>
              </a:ext>
            </a:extLst>
          </p:cNvPr>
          <p:cNvSpPr/>
          <p:nvPr/>
        </p:nvSpPr>
        <p:spPr>
          <a:xfrm>
            <a:off x="2957992" y="1494337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F1F7F-983A-F5D7-D3E0-3190CEB55155}"/>
              </a:ext>
            </a:extLst>
          </p:cNvPr>
          <p:cNvSpPr/>
          <p:nvPr/>
        </p:nvSpPr>
        <p:spPr>
          <a:xfrm>
            <a:off x="2957992" y="2500792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CA5EC3-9D20-47F6-35DE-47A94EA21470}"/>
              </a:ext>
            </a:extLst>
          </p:cNvPr>
          <p:cNvSpPr/>
          <p:nvPr/>
        </p:nvSpPr>
        <p:spPr>
          <a:xfrm>
            <a:off x="2957992" y="3876484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6297D5-CF66-7733-DE48-2F88974EB319}"/>
              </a:ext>
            </a:extLst>
          </p:cNvPr>
          <p:cNvSpPr/>
          <p:nvPr/>
        </p:nvSpPr>
        <p:spPr>
          <a:xfrm>
            <a:off x="5758469" y="329347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9A3352-9746-3F2F-EFA1-F5AED259815F}"/>
              </a:ext>
            </a:extLst>
          </p:cNvPr>
          <p:cNvSpPr/>
          <p:nvPr/>
        </p:nvSpPr>
        <p:spPr>
          <a:xfrm>
            <a:off x="5758468" y="1357279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045677-1AB2-5144-3195-13887195E433}"/>
              </a:ext>
            </a:extLst>
          </p:cNvPr>
          <p:cNvSpPr/>
          <p:nvPr/>
        </p:nvSpPr>
        <p:spPr>
          <a:xfrm>
            <a:off x="5758467" y="2542724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C537AE-B756-38E9-7458-8960123000D9}"/>
              </a:ext>
            </a:extLst>
          </p:cNvPr>
          <p:cNvSpPr/>
          <p:nvPr/>
        </p:nvSpPr>
        <p:spPr>
          <a:xfrm>
            <a:off x="5758467" y="3602369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id="{0706B3D3-2E64-8F70-1B94-20E3FC1BC86F}"/>
              </a:ext>
            </a:extLst>
          </p:cNvPr>
          <p:cNvSpPr/>
          <p:nvPr/>
        </p:nvSpPr>
        <p:spPr>
          <a:xfrm rot="5400000">
            <a:off x="1360476" y="733870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855C7E-8CE5-C9C1-8871-F9F836CF6AAD}"/>
              </a:ext>
            </a:extLst>
          </p:cNvPr>
          <p:cNvSpPr/>
          <p:nvPr/>
        </p:nvSpPr>
        <p:spPr>
          <a:xfrm>
            <a:off x="3323138" y="918487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A3F029-EC60-2ED8-2188-58CFA7F4BB68}"/>
              </a:ext>
            </a:extLst>
          </p:cNvPr>
          <p:cNvSpPr/>
          <p:nvPr/>
        </p:nvSpPr>
        <p:spPr>
          <a:xfrm>
            <a:off x="3323138" y="3255632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梯形 18">
            <a:extLst>
              <a:ext uri="{FF2B5EF4-FFF2-40B4-BE49-F238E27FC236}">
                <a16:creationId xmlns:a16="http://schemas.microsoft.com/office/drawing/2014/main" id="{F72B32D2-C7F1-54CE-DF6C-1365A40C186D}"/>
              </a:ext>
            </a:extLst>
          </p:cNvPr>
          <p:cNvSpPr/>
          <p:nvPr/>
        </p:nvSpPr>
        <p:spPr>
          <a:xfrm rot="5400000">
            <a:off x="1360475" y="3096585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梯形 19">
            <a:extLst>
              <a:ext uri="{FF2B5EF4-FFF2-40B4-BE49-F238E27FC236}">
                <a16:creationId xmlns:a16="http://schemas.microsoft.com/office/drawing/2014/main" id="{1CE1E0E5-7682-331C-B9C8-AE426C4ACBB6}"/>
              </a:ext>
            </a:extLst>
          </p:cNvPr>
          <p:cNvSpPr/>
          <p:nvPr/>
        </p:nvSpPr>
        <p:spPr>
          <a:xfrm rot="16200000">
            <a:off x="4042179" y="3096585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梯形 20">
            <a:extLst>
              <a:ext uri="{FF2B5EF4-FFF2-40B4-BE49-F238E27FC236}">
                <a16:creationId xmlns:a16="http://schemas.microsoft.com/office/drawing/2014/main" id="{9575130E-7CAD-8C12-B8AA-0D3DC42C2D3B}"/>
              </a:ext>
            </a:extLst>
          </p:cNvPr>
          <p:cNvSpPr/>
          <p:nvPr/>
        </p:nvSpPr>
        <p:spPr>
          <a:xfrm rot="16200000">
            <a:off x="4128224" y="733870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B5A2CF9-D8DB-AD5E-20EF-861F18403F63}"/>
              </a:ext>
            </a:extLst>
          </p:cNvPr>
          <p:cNvCxnSpPr/>
          <p:nvPr/>
        </p:nvCxnSpPr>
        <p:spPr>
          <a:xfrm>
            <a:off x="853030" y="1150666"/>
            <a:ext cx="622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D041F96-26C6-9302-9F66-3145675F765E}"/>
              </a:ext>
            </a:extLst>
          </p:cNvPr>
          <p:cNvCxnSpPr/>
          <p:nvPr/>
        </p:nvCxnSpPr>
        <p:spPr>
          <a:xfrm>
            <a:off x="853029" y="3412630"/>
            <a:ext cx="622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899865A-50D1-B071-D76F-6DF5B90830DD}"/>
              </a:ext>
            </a:extLst>
          </p:cNvPr>
          <p:cNvCxnSpPr>
            <a:cxnSpLocks/>
          </p:cNvCxnSpPr>
          <p:nvPr/>
        </p:nvCxnSpPr>
        <p:spPr>
          <a:xfrm flipV="1">
            <a:off x="2335479" y="618802"/>
            <a:ext cx="579555" cy="51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C7A575C-F911-365B-99C9-DBB1BA2B2400}"/>
              </a:ext>
            </a:extLst>
          </p:cNvPr>
          <p:cNvCxnSpPr>
            <a:cxnSpLocks/>
          </p:cNvCxnSpPr>
          <p:nvPr/>
        </p:nvCxnSpPr>
        <p:spPr>
          <a:xfrm>
            <a:off x="2313999" y="1170103"/>
            <a:ext cx="643993" cy="5287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19D7B6C-04FE-0553-5F19-06D0C853DD5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324738" y="2741155"/>
            <a:ext cx="633254" cy="68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452B9B4-6016-89AF-F8AC-AC7F2750E63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335479" y="3573725"/>
            <a:ext cx="622513" cy="5431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DCC38F7-F20D-A157-B26F-D49E2AB48200}"/>
              </a:ext>
            </a:extLst>
          </p:cNvPr>
          <p:cNvCxnSpPr>
            <a:cxnSpLocks/>
            <a:endCxn id="21" idx="0"/>
          </p:cNvCxnSpPr>
          <p:nvPr/>
        </p:nvCxnSpPr>
        <p:spPr>
          <a:xfrm flipV="1">
            <a:off x="3438716" y="1158850"/>
            <a:ext cx="804576" cy="112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44BB5D1-0B83-3F83-2A08-AEC49092D08A}"/>
              </a:ext>
            </a:extLst>
          </p:cNvPr>
          <p:cNvCxnSpPr>
            <a:cxnSpLocks/>
          </p:cNvCxnSpPr>
          <p:nvPr/>
        </p:nvCxnSpPr>
        <p:spPr>
          <a:xfrm>
            <a:off x="3438716" y="3495994"/>
            <a:ext cx="7185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9F91B85-C6EE-77E9-8DDA-84BFF1D47146}"/>
              </a:ext>
            </a:extLst>
          </p:cNvPr>
          <p:cNvCxnSpPr>
            <a:cxnSpLocks/>
            <a:endCxn id="21" idx="0"/>
          </p:cNvCxnSpPr>
          <p:nvPr/>
        </p:nvCxnSpPr>
        <p:spPr>
          <a:xfrm flipV="1">
            <a:off x="3438715" y="1158850"/>
            <a:ext cx="804577" cy="2337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DE2970B-1139-ECBE-AF70-3321026273C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438716" y="1158850"/>
            <a:ext cx="688998" cy="2362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C2262A3-DF53-0A8C-6908-3C8338CA367D}"/>
              </a:ext>
            </a:extLst>
          </p:cNvPr>
          <p:cNvCxnSpPr>
            <a:cxnSpLocks/>
          </p:cNvCxnSpPr>
          <p:nvPr/>
        </p:nvCxnSpPr>
        <p:spPr>
          <a:xfrm flipV="1">
            <a:off x="5119588" y="706767"/>
            <a:ext cx="638879" cy="463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D032A89-7442-4321-EDFA-7AD07CE17E2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119588" y="1183397"/>
            <a:ext cx="638880" cy="551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33A665C-4D98-EAE6-0BD3-0F3E6B709A7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5007208" y="2920144"/>
            <a:ext cx="751259" cy="601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8CB9E65-2C0D-6E6B-09B1-DB875D9910C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007208" y="3527191"/>
            <a:ext cx="751259" cy="452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D44D3DE4-A13B-D7CE-F608-6A655D74D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3" y="4509566"/>
            <a:ext cx="5823930" cy="2356661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F7470328-D5EB-ACC1-A158-74E0D0E7C94B}"/>
              </a:ext>
            </a:extLst>
          </p:cNvPr>
          <p:cNvSpPr txBox="1"/>
          <p:nvPr/>
        </p:nvSpPr>
        <p:spPr>
          <a:xfrm>
            <a:off x="478679" y="329347"/>
            <a:ext cx="177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SR framework</a:t>
            </a:r>
            <a:endParaRPr lang="zh-CN" altLang="en-US" dirty="0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30BAF58B-9BCE-1F2D-A11F-E6B21EE4DB68}"/>
              </a:ext>
            </a:extLst>
          </p:cNvPr>
          <p:cNvSpPr/>
          <p:nvPr/>
        </p:nvSpPr>
        <p:spPr>
          <a:xfrm>
            <a:off x="7043766" y="171834"/>
            <a:ext cx="5136289" cy="657938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3EFD81C-C6B8-7DEC-8949-60EEBF1268B6}"/>
              </a:ext>
            </a:extLst>
          </p:cNvPr>
          <p:cNvSpPr txBox="1"/>
          <p:nvPr/>
        </p:nvSpPr>
        <p:spPr>
          <a:xfrm>
            <a:off x="7043766" y="2556488"/>
            <a:ext cx="25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Cross modality retrieval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89DAEAE-8F46-DEB8-35F7-C9B1C8A51C20}"/>
              </a:ext>
            </a:extLst>
          </p:cNvPr>
          <p:cNvSpPr txBox="1"/>
          <p:nvPr/>
        </p:nvSpPr>
        <p:spPr>
          <a:xfrm>
            <a:off x="7043765" y="692906"/>
            <a:ext cx="25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Universal embedding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D31F90A-5A1B-AB54-31B7-1C01D48B95DE}"/>
              </a:ext>
            </a:extLst>
          </p:cNvPr>
          <p:cNvSpPr txBox="1"/>
          <p:nvPr/>
        </p:nvSpPr>
        <p:spPr>
          <a:xfrm>
            <a:off x="7113194" y="4570978"/>
            <a:ext cx="254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In-silico perturbation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548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603</Words>
  <Application>Microsoft Office PowerPoint</Application>
  <PresentationFormat>宽屏</PresentationFormat>
  <Paragraphs>49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Solid Recover: construct single cell multiomic pretrain model by single omic model alignment </vt:lpstr>
      <vt:lpstr>背景：</vt:lpstr>
      <vt:lpstr>SR方法：  </vt:lpstr>
      <vt:lpstr>下游任务</vt:lpstr>
      <vt:lpstr>在跨数据集预测上，sc_pretrain_large效果最好，Multivi 第三位，sc_scratch_large仅优于cobolt</vt:lpstr>
      <vt:lpstr>PowerPoint 演示文稿</vt:lpstr>
      <vt:lpstr>PowerPoint 演示文稿</vt:lpstr>
      <vt:lpstr>跨模态预测： 使用ATAC数据预测RNA表达，对预测的基因表达和原始基因表达计算皮尔森相关性</vt:lpstr>
      <vt:lpstr>改善GRN推断： 左侧是用scenic，只用RNA推断的小鼠海马调控的效果，右侧是整合SR推断出的gene activity数据，修正后的调控网络推断效果，生成的GA数据能够改善GRN推断效果。</vt:lpstr>
      <vt:lpstr>TO DO: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Recover: construct single cell multiomic pretrain model by single omic model alignment </dc:title>
  <dc:creator/>
  <cp:lastModifiedBy>Rui Sun</cp:lastModifiedBy>
  <cp:revision>28</cp:revision>
  <dcterms:created xsi:type="dcterms:W3CDTF">2025-05-11T10:46:03Z</dcterms:created>
  <dcterms:modified xsi:type="dcterms:W3CDTF">2025-09-24T05:36:49Z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D6A25AC35EB149F1BCBC8D4200274B25_11</vt:lpwstr>
  </property>
  <property fmtid="{D5CDD505-2E9C-101B-9397-08002B2CF9AE}" pid="3" name="KSOProductBuildVer">
    <vt:lpwstr>1033-12.2.0.20795</vt:lpwstr>
  </property>
</Properties>
</file>