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63" r:id="rId3"/>
    <p:sldId id="262" r:id="rId4"/>
    <p:sldId id="261" r:id="rId5"/>
    <p:sldId id="256" r:id="rId6"/>
    <p:sldId id="266" r:id="rId7"/>
    <p:sldId id="257" r:id="rId8"/>
    <p:sldId id="260" r:id="rId9"/>
    <p:sldId id="264" r:id="rId10"/>
    <p:sldId id="265" r:id="rId11"/>
    <p:sldId id="258" r:id="rId12"/>
    <p:sldId id="259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4E26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Figure 1: SR </a:t>
            </a:r>
            <a:r>
              <a:rPr lang="zh-CN" altLang="en-US"/>
              <a:t>方法</a:t>
            </a:r>
            <a:r>
              <a:rPr lang="zh-CN" altLang="en-US"/>
              <a:t>介绍</a:t>
            </a:r>
            <a:endParaRPr lang="zh-CN" alt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7167245" y="1043305"/>
            <a:ext cx="4485640" cy="4351655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692785" y="2100580"/>
            <a:ext cx="5969635" cy="2584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1. Data Input: </a:t>
            </a:r>
            <a:endParaRPr lang="en-US"/>
          </a:p>
          <a:p>
            <a:endParaRPr lang="en-US"/>
          </a:p>
          <a:p>
            <a:r>
              <a:rPr lang="zh-CN" altLang="en-US"/>
              <a:t>体现模型的输入、</a:t>
            </a:r>
            <a:r>
              <a:rPr lang="zh-CN" altLang="en-US"/>
              <a:t>应用</a:t>
            </a:r>
            <a:endParaRPr lang="zh-CN" altLang="en-US"/>
          </a:p>
          <a:p>
            <a:endParaRPr lang="zh-CN" altLang="en-US"/>
          </a:p>
          <a:p>
            <a:r>
              <a:rPr lang="en-US" altLang="zh-CN"/>
              <a:t>2. Weighted Contrastive Loss </a:t>
            </a:r>
            <a:r>
              <a:rPr lang="zh-CN" altLang="en-US"/>
              <a:t>修改：</a:t>
            </a:r>
            <a:endParaRPr lang="zh-CN" altLang="en-US"/>
          </a:p>
          <a:p>
            <a:endParaRPr lang="zh-CN" altLang="en-US"/>
          </a:p>
          <a:p>
            <a:r>
              <a:rPr lang="en-US" altLang="zh-CN"/>
              <a:t>- heatmap </a:t>
            </a:r>
            <a:r>
              <a:rPr lang="zh-CN" altLang="en-US"/>
              <a:t>体现</a:t>
            </a:r>
            <a:r>
              <a:rPr lang="en-US" altLang="zh-CN"/>
              <a:t> cell cluster </a:t>
            </a:r>
            <a:r>
              <a:rPr lang="zh-CN" altLang="en-US"/>
              <a:t>结构</a:t>
            </a:r>
            <a:endParaRPr lang="zh-CN" altLang="en-US"/>
          </a:p>
          <a:p>
            <a:r>
              <a:rPr lang="en-US" altLang="zh-CN"/>
              <a:t>- </a:t>
            </a:r>
            <a:r>
              <a:rPr lang="zh-CN" altLang="en-US"/>
              <a:t>示意图中增加和</a:t>
            </a:r>
            <a:r>
              <a:rPr lang="en-US" altLang="zh-CN"/>
              <a:t>ori clip </a:t>
            </a:r>
            <a:r>
              <a:rPr lang="zh-CN" altLang="en-US"/>
              <a:t>的</a:t>
            </a:r>
            <a:r>
              <a:rPr lang="zh-CN" altLang="en-US"/>
              <a:t>对比</a:t>
            </a:r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en-US"/>
              <a:t>Figure 2: SR </a:t>
            </a:r>
            <a:r>
              <a:rPr lang="zh-CN" altLang="en-US"/>
              <a:t>在</a:t>
            </a:r>
            <a:r>
              <a:rPr lang="en-US" altLang="zh-CN"/>
              <a:t>unpaired </a:t>
            </a:r>
            <a:r>
              <a:rPr lang="zh-CN" altLang="en-US"/>
              <a:t>数据整合上的</a:t>
            </a:r>
            <a:r>
              <a:rPr lang="zh-CN" altLang="en-US"/>
              <a:t>表现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/>
              <a:t>a. </a:t>
            </a:r>
            <a:r>
              <a:rPr lang="zh-CN" altLang="en-US"/>
              <a:t>展示</a:t>
            </a:r>
            <a:r>
              <a:rPr lang="en-US" altLang="zh-CN"/>
              <a:t>SR</a:t>
            </a:r>
            <a:r>
              <a:rPr lang="zh-CN" altLang="en-US"/>
              <a:t>在</a:t>
            </a:r>
            <a:r>
              <a:rPr lang="en-US" altLang="zh-CN"/>
              <a:t>unpaired </a:t>
            </a:r>
            <a:r>
              <a:rPr lang="zh-CN" altLang="en-US"/>
              <a:t>数据上匹配不同模态的</a:t>
            </a:r>
            <a:r>
              <a:rPr lang="zh-CN" altLang="en-US"/>
              <a:t>表现</a:t>
            </a:r>
            <a:endParaRPr lang="zh-CN" altLang="en-US"/>
          </a:p>
          <a:p>
            <a:pPr lvl="1"/>
            <a:r>
              <a:rPr lang="en-US" altLang="zh-CN"/>
              <a:t>barplot </a:t>
            </a:r>
            <a:r>
              <a:rPr lang="zh-CN" altLang="en-US"/>
              <a:t>展示和对比方法在</a:t>
            </a:r>
            <a:r>
              <a:rPr lang="en-US" altLang="zh-CN"/>
              <a:t>top-k hit </a:t>
            </a:r>
            <a:r>
              <a:rPr lang="zh-CN" altLang="en-US"/>
              <a:t>和</a:t>
            </a:r>
            <a:r>
              <a:rPr lang="en-US" altLang="zh-CN"/>
              <a:t> foscttm </a:t>
            </a:r>
            <a:r>
              <a:rPr lang="zh-CN" altLang="en-US"/>
              <a:t>指标上的</a:t>
            </a:r>
            <a:r>
              <a:rPr lang="zh-CN" altLang="en-US"/>
              <a:t>表现</a:t>
            </a:r>
            <a:endParaRPr lang="zh-CN" altLang="en-US"/>
          </a:p>
          <a:p>
            <a:pPr lvl="1"/>
            <a:r>
              <a:rPr lang="zh-CN" altLang="en-US"/>
              <a:t>直接</a:t>
            </a:r>
            <a:r>
              <a:rPr lang="en-US" altLang="zh-CN"/>
              <a:t>UMAP </a:t>
            </a:r>
            <a:r>
              <a:rPr lang="zh-CN" altLang="en-US"/>
              <a:t>展示对齐</a:t>
            </a:r>
            <a:r>
              <a:rPr lang="zh-CN" altLang="en-US"/>
              <a:t>效果</a:t>
            </a:r>
            <a:endParaRPr lang="zh-CN" altLang="en-US"/>
          </a:p>
          <a:p>
            <a:pPr lvl="0"/>
            <a:r>
              <a:rPr lang="en-US" altLang="zh-CN"/>
              <a:t>b. </a:t>
            </a:r>
            <a:r>
              <a:rPr lang="zh-CN" altLang="en-US"/>
              <a:t>展示</a:t>
            </a:r>
            <a:r>
              <a:rPr lang="en-US" altLang="zh-CN"/>
              <a:t>SR </a:t>
            </a:r>
            <a:r>
              <a:rPr lang="zh-CN" altLang="en-US"/>
              <a:t>在</a:t>
            </a:r>
            <a:r>
              <a:rPr lang="en-US" altLang="zh-CN"/>
              <a:t>multi omic </a:t>
            </a:r>
            <a:r>
              <a:rPr lang="zh-CN" altLang="en-US"/>
              <a:t>数据上整合不同模态的</a:t>
            </a:r>
            <a:r>
              <a:rPr lang="zh-CN" altLang="en-US"/>
              <a:t>表现</a:t>
            </a:r>
            <a:endParaRPr lang="zh-CN" altLang="en-US"/>
          </a:p>
          <a:p>
            <a:pPr lvl="1"/>
            <a:r>
              <a:rPr lang="en-US" altLang="zh-CN"/>
              <a:t>barplot </a:t>
            </a:r>
            <a:r>
              <a:rPr lang="zh-CN" altLang="en-US"/>
              <a:t>展示和对比方法在</a:t>
            </a:r>
            <a:r>
              <a:rPr lang="en-US" altLang="zh-CN"/>
              <a:t>NMI </a:t>
            </a:r>
            <a:r>
              <a:rPr lang="zh-CN" altLang="en-US"/>
              <a:t>和</a:t>
            </a:r>
            <a:r>
              <a:rPr lang="en-US" altLang="zh-CN"/>
              <a:t> ARI </a:t>
            </a:r>
            <a:r>
              <a:rPr lang="zh-CN" altLang="en-US"/>
              <a:t>上的</a:t>
            </a:r>
            <a:r>
              <a:rPr lang="zh-CN" altLang="en-US"/>
              <a:t>表现</a:t>
            </a:r>
            <a:endParaRPr lang="zh-CN" altLang="en-US"/>
          </a:p>
          <a:p>
            <a:pPr lvl="1"/>
            <a:r>
              <a:rPr lang="zh-CN" altLang="en-US">
                <a:solidFill>
                  <a:srgbClr val="FF0000"/>
                </a:solidFill>
              </a:rPr>
              <a:t>结合具体的</a:t>
            </a:r>
            <a:r>
              <a:rPr lang="en-US" altLang="zh-CN">
                <a:solidFill>
                  <a:srgbClr val="FF0000"/>
                </a:solidFill>
              </a:rPr>
              <a:t>UMAP</a:t>
            </a:r>
            <a:r>
              <a:rPr lang="zh-CN" altLang="en-US">
                <a:solidFill>
                  <a:srgbClr val="FF0000"/>
                </a:solidFill>
              </a:rPr>
              <a:t>说明在真实生物学信号上表现</a:t>
            </a:r>
            <a:endParaRPr lang="zh-CN" altLang="en-US">
              <a:solidFill>
                <a:srgbClr val="FF0000"/>
              </a:solidFill>
            </a:endParaRPr>
          </a:p>
          <a:p>
            <a:pPr lvl="0"/>
            <a:r>
              <a:rPr lang="en-US" altLang="zh-CN"/>
              <a:t>c. </a:t>
            </a:r>
            <a:r>
              <a:rPr lang="zh-CN" altLang="en-US"/>
              <a:t>展示</a:t>
            </a:r>
            <a:r>
              <a:rPr lang="en-US" altLang="zh-CN"/>
              <a:t>SR </a:t>
            </a:r>
            <a:r>
              <a:rPr lang="zh-CN" altLang="en-US"/>
              <a:t>消融，说明</a:t>
            </a:r>
            <a:r>
              <a:rPr lang="en-US" altLang="zh-CN"/>
              <a:t>loss </a:t>
            </a:r>
            <a:r>
              <a:rPr lang="zh-CN" altLang="en-US"/>
              <a:t>设计作用</a:t>
            </a:r>
            <a:r>
              <a:rPr lang="en-US" altLang="zh-CN"/>
              <a:t> </a:t>
            </a:r>
            <a:endParaRPr lang="en-US" altLang="zh-CN"/>
          </a:p>
          <a:p>
            <a:pPr lvl="1"/>
            <a:r>
              <a:rPr lang="en-US" altLang="zh-CN"/>
              <a:t>barplot </a:t>
            </a:r>
            <a:r>
              <a:rPr lang="zh-CN" altLang="en-US"/>
              <a:t>展示具体</a:t>
            </a:r>
            <a:r>
              <a:rPr lang="zh-CN" altLang="en-US"/>
              <a:t>指标</a:t>
            </a:r>
            <a:endParaRPr lang="zh-CN" altLang="en-US"/>
          </a:p>
          <a:p>
            <a:pPr lvl="1"/>
            <a:r>
              <a:rPr lang="zh-CN" altLang="en-US">
                <a:solidFill>
                  <a:srgbClr val="FF0000"/>
                </a:solidFill>
              </a:rPr>
              <a:t>考虑一个具体的</a:t>
            </a:r>
            <a:r>
              <a:rPr lang="en-US" altLang="zh-CN">
                <a:solidFill>
                  <a:srgbClr val="FF0000"/>
                </a:solidFill>
              </a:rPr>
              <a:t>case </a:t>
            </a:r>
            <a:r>
              <a:rPr lang="zh-CN" altLang="en-US">
                <a:solidFill>
                  <a:srgbClr val="FF0000"/>
                </a:solidFill>
              </a:rPr>
              <a:t>来说明设计的作用，可以是模拟数据</a:t>
            </a:r>
            <a:endParaRPr lang="zh-CN" altLang="en-US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US"/>
              <a:t>Figure 3: </a:t>
            </a:r>
            <a:r>
              <a:rPr lang="zh-CN" altLang="en-US"/>
              <a:t>说明</a:t>
            </a:r>
            <a:r>
              <a:rPr lang="en-US" altLang="zh-CN"/>
              <a:t>SR </a:t>
            </a:r>
            <a:r>
              <a:rPr lang="zh-CN" altLang="en-US"/>
              <a:t>在跨模态生成能力上的</a:t>
            </a:r>
            <a:r>
              <a:rPr lang="zh-CN" altLang="en-US"/>
              <a:t>表现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 sz="2000"/>
              <a:t>a. SR </a:t>
            </a:r>
            <a:r>
              <a:rPr lang="zh-CN" altLang="en-US" sz="2000"/>
              <a:t>跨模态生成的数据足够接近真实的缺失模态数据：</a:t>
            </a:r>
            <a:endParaRPr lang="zh-CN" altLang="en-US" sz="2000"/>
          </a:p>
          <a:p>
            <a:pPr lvl="1"/>
            <a:r>
              <a:rPr lang="en-US" altLang="zh-CN" sz="1710"/>
              <a:t>atac </a:t>
            </a:r>
            <a:r>
              <a:rPr lang="zh-CN" altLang="en-US" sz="1710"/>
              <a:t>生成的</a:t>
            </a:r>
            <a:r>
              <a:rPr lang="en-US" altLang="zh-CN" sz="1710"/>
              <a:t>rna </a:t>
            </a:r>
            <a:r>
              <a:rPr lang="zh-CN" altLang="en-US" sz="1710"/>
              <a:t>和</a:t>
            </a:r>
            <a:r>
              <a:rPr lang="en-US" altLang="zh-CN" sz="1710"/>
              <a:t> </a:t>
            </a:r>
            <a:r>
              <a:rPr lang="zh-CN" altLang="en-US" sz="1710"/>
              <a:t>真实的</a:t>
            </a:r>
            <a:r>
              <a:rPr lang="en-US" altLang="zh-CN" sz="1710"/>
              <a:t>rna concat </a:t>
            </a:r>
            <a:r>
              <a:rPr lang="zh-CN" altLang="en-US" sz="1710"/>
              <a:t>到一起</a:t>
            </a:r>
            <a:r>
              <a:rPr lang="en-US" altLang="zh-CN" sz="1710"/>
              <a:t>UMAP, </a:t>
            </a:r>
            <a:r>
              <a:rPr lang="zh-CN" altLang="en-US" sz="1710"/>
              <a:t>没有</a:t>
            </a:r>
            <a:r>
              <a:rPr lang="en-US" altLang="zh-CN" sz="1710"/>
              <a:t>batch </a:t>
            </a:r>
            <a:r>
              <a:rPr lang="zh-CN" altLang="en-US" sz="1710"/>
              <a:t>且</a:t>
            </a:r>
            <a:r>
              <a:rPr lang="en-US" altLang="zh-CN" sz="1710"/>
              <a:t> </a:t>
            </a:r>
            <a:r>
              <a:rPr lang="zh-CN" altLang="en-US" sz="1710"/>
              <a:t>细胞类型</a:t>
            </a:r>
            <a:r>
              <a:rPr lang="zh-CN" altLang="en-US" sz="1710"/>
              <a:t>清晰</a:t>
            </a:r>
            <a:endParaRPr lang="zh-CN" altLang="en-US" sz="1710"/>
          </a:p>
          <a:p>
            <a:pPr lvl="1"/>
            <a:r>
              <a:rPr lang="en-US" altLang="zh-CN" sz="1710"/>
              <a:t>atac </a:t>
            </a:r>
            <a:r>
              <a:rPr lang="zh-CN" altLang="en-US" sz="1710"/>
              <a:t>生成的</a:t>
            </a:r>
            <a:r>
              <a:rPr lang="en-US" altLang="zh-CN" sz="1710"/>
              <a:t>rna </a:t>
            </a:r>
            <a:r>
              <a:rPr lang="zh-CN" altLang="en-US" sz="1710"/>
              <a:t>在</a:t>
            </a:r>
            <a:r>
              <a:rPr lang="en-US" altLang="zh-CN" sz="1710"/>
              <a:t> </a:t>
            </a:r>
            <a:r>
              <a:rPr lang="zh-CN" altLang="en-US" sz="1710"/>
              <a:t>细胞类型层面和基因层面和真实的的</a:t>
            </a:r>
            <a:r>
              <a:rPr lang="en-US" altLang="zh-CN" sz="1710"/>
              <a:t> rna </a:t>
            </a:r>
            <a:r>
              <a:rPr lang="zh-CN" altLang="en-US" sz="1710"/>
              <a:t>相关性</a:t>
            </a:r>
            <a:r>
              <a:rPr lang="zh-CN" altLang="en-US" sz="1710"/>
              <a:t>足够高</a:t>
            </a:r>
            <a:endParaRPr lang="zh-CN" altLang="en-US" sz="1710"/>
          </a:p>
          <a:p>
            <a:pPr lvl="0"/>
            <a:r>
              <a:rPr lang="en-US" altLang="zh-CN" sz="1995"/>
              <a:t>b. SR </a:t>
            </a:r>
            <a:r>
              <a:rPr lang="zh-CN" altLang="en-US" sz="1995"/>
              <a:t>跨模态生成的数据比真实的数据具备更好的</a:t>
            </a:r>
            <a:r>
              <a:rPr lang="zh-CN" altLang="en-US" sz="1995"/>
              <a:t>性能：</a:t>
            </a:r>
            <a:endParaRPr lang="zh-CN" altLang="en-US" sz="1995"/>
          </a:p>
          <a:p>
            <a:pPr lvl="1"/>
            <a:r>
              <a:rPr lang="en-US" altLang="zh-CN" sz="1710"/>
              <a:t>atac </a:t>
            </a:r>
            <a:r>
              <a:rPr lang="zh-CN" altLang="en-US" sz="1710"/>
              <a:t>生成的</a:t>
            </a:r>
            <a:r>
              <a:rPr lang="en-US" altLang="zh-CN" sz="1710"/>
              <a:t>rna </a:t>
            </a:r>
            <a:r>
              <a:rPr lang="zh-CN" altLang="en-US" sz="1710"/>
              <a:t>聚类会比</a:t>
            </a:r>
            <a:r>
              <a:rPr lang="en-US" altLang="zh-CN" sz="1710"/>
              <a:t> </a:t>
            </a:r>
            <a:r>
              <a:rPr lang="zh-CN" altLang="en-US" sz="1710"/>
              <a:t>原始的</a:t>
            </a:r>
            <a:r>
              <a:rPr lang="en-US" altLang="zh-CN" sz="1710"/>
              <a:t> rna </a:t>
            </a:r>
            <a:r>
              <a:rPr lang="zh-CN" altLang="en-US" sz="1710"/>
              <a:t>具有更好的</a:t>
            </a:r>
            <a:r>
              <a:rPr lang="en-US" altLang="zh-CN" sz="1710"/>
              <a:t>NMI, ARI</a:t>
            </a:r>
            <a:r>
              <a:rPr lang="zh-CN" altLang="en-US" sz="1710"/>
              <a:t>表现</a:t>
            </a:r>
            <a:endParaRPr lang="zh-CN" altLang="en-US" sz="1710"/>
          </a:p>
          <a:p>
            <a:pPr lvl="1"/>
            <a:r>
              <a:rPr lang="en-US" altLang="zh-CN" sz="1710"/>
              <a:t>atac </a:t>
            </a:r>
            <a:r>
              <a:rPr lang="zh-CN" altLang="en-US" sz="1710"/>
              <a:t>生成的</a:t>
            </a:r>
            <a:r>
              <a:rPr lang="en-US" altLang="zh-CN" sz="1710"/>
              <a:t>rna </a:t>
            </a:r>
            <a:r>
              <a:rPr lang="zh-CN" altLang="en-US" sz="1710"/>
              <a:t>在</a:t>
            </a:r>
            <a:r>
              <a:rPr lang="en-US" altLang="zh-CN" sz="1710"/>
              <a:t>DEG</a:t>
            </a:r>
            <a:r>
              <a:rPr lang="zh-CN" altLang="en-US" sz="1710"/>
              <a:t>上会有更清晰的</a:t>
            </a:r>
            <a:r>
              <a:rPr lang="en-US" altLang="zh-CN" sz="1710"/>
              <a:t>pattern, </a:t>
            </a:r>
            <a:r>
              <a:rPr lang="zh-CN" altLang="en-US" sz="1710"/>
              <a:t>并且这种</a:t>
            </a:r>
            <a:r>
              <a:rPr lang="en-US" altLang="zh-CN" sz="1710"/>
              <a:t>pattern</a:t>
            </a:r>
            <a:r>
              <a:rPr lang="zh-CN" altLang="en-US" sz="1710"/>
              <a:t>是具有生物学意义的</a:t>
            </a:r>
            <a:endParaRPr lang="zh-CN" altLang="en-US" sz="1710"/>
          </a:p>
          <a:p>
            <a:pPr lvl="0"/>
            <a:r>
              <a:rPr lang="en-US" altLang="zh-CN" sz="1995"/>
              <a:t>c. </a:t>
            </a:r>
            <a:r>
              <a:rPr lang="zh-CN" altLang="en-US" sz="1995"/>
              <a:t>跨模态生成数据具备真实的生物学意义：</a:t>
            </a:r>
            <a:endParaRPr lang="zh-CN" altLang="en-US" sz="1995"/>
          </a:p>
          <a:p>
            <a:pPr lvl="1"/>
            <a:r>
              <a:rPr lang="en-US" altLang="zh-CN" sz="1710"/>
              <a:t>DEG</a:t>
            </a:r>
            <a:r>
              <a:rPr lang="zh-CN" altLang="en-US" sz="1710"/>
              <a:t>能够富集到真实的通路</a:t>
            </a:r>
            <a:endParaRPr lang="zh-CN" altLang="en-US" sz="1710"/>
          </a:p>
          <a:p>
            <a:pPr lvl="0"/>
            <a:r>
              <a:rPr lang="en-US" altLang="zh-CN" sz="1995"/>
              <a:t>d. </a:t>
            </a:r>
            <a:r>
              <a:rPr lang="zh-CN" altLang="en-US" sz="1995"/>
              <a:t>对比其他的跨模态生成方法的表现</a:t>
            </a:r>
            <a:r>
              <a:rPr lang="en-US" altLang="zh-CN" sz="1995"/>
              <a:t> </a:t>
            </a:r>
            <a:r>
              <a:rPr lang="zh-CN" altLang="en-US" sz="1995"/>
              <a:t>以及</a:t>
            </a:r>
            <a:r>
              <a:rPr lang="en-US" altLang="zh-CN" sz="1995"/>
              <a:t> ori clip </a:t>
            </a:r>
            <a:r>
              <a:rPr lang="zh-CN" altLang="en-US" sz="1995"/>
              <a:t>的消融：</a:t>
            </a:r>
            <a:endParaRPr lang="zh-CN" altLang="en-US" sz="1995"/>
          </a:p>
          <a:p>
            <a:pPr lvl="1"/>
            <a:r>
              <a:rPr lang="en-US" altLang="zh-CN" sz="1710"/>
              <a:t>bar plot, cluster NMI, ARI, feature corr, </a:t>
            </a:r>
            <a:endParaRPr lang="en-US" altLang="zh-CN" sz="1710"/>
          </a:p>
          <a:p>
            <a:pPr lvl="1"/>
            <a:endParaRPr lang="en-US" altLang="zh-CN" sz="171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"/>
          <p:cNvSpPr txBox="1"/>
          <p:nvPr/>
        </p:nvSpPr>
        <p:spPr>
          <a:xfrm>
            <a:off x="375920" y="193675"/>
            <a:ext cx="5550535" cy="53543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Pannel a</a:t>
            </a:r>
            <a:endParaRPr lang="en-US"/>
          </a:p>
          <a:p>
            <a:endParaRPr lang="en-US"/>
          </a:p>
          <a:p>
            <a:endParaRPr lang="en-US"/>
          </a:p>
          <a:p>
            <a:r>
              <a:rPr lang="zh-CN" altLang="en-US"/>
              <a:t>左边展示了</a:t>
            </a:r>
            <a:r>
              <a:rPr lang="en-US" altLang="zh-CN"/>
              <a:t>PBMC held out test data </a:t>
            </a:r>
            <a:r>
              <a:rPr lang="zh-CN" altLang="en-US"/>
              <a:t>上</a:t>
            </a:r>
            <a:r>
              <a:rPr lang="en-US" altLang="zh-CN"/>
              <a:t>DEG</a:t>
            </a:r>
            <a:r>
              <a:rPr lang="zh-CN" altLang="en-US"/>
              <a:t>的情况</a:t>
            </a:r>
            <a:r>
              <a:rPr lang="en-US" altLang="zh-CN"/>
              <a:t> </a:t>
            </a:r>
            <a:endParaRPr lang="en-US" altLang="zh-CN"/>
          </a:p>
          <a:p>
            <a:endParaRPr lang="en-US" altLang="zh-CN"/>
          </a:p>
          <a:p>
            <a:r>
              <a:rPr lang="zh-CN" altLang="en-US"/>
              <a:t>上方是</a:t>
            </a:r>
            <a:r>
              <a:rPr lang="en-US" altLang="zh-CN"/>
              <a:t>ori rna data, </a:t>
            </a:r>
            <a:r>
              <a:rPr lang="zh-CN" altLang="en-US"/>
              <a:t>下方是</a:t>
            </a:r>
            <a:r>
              <a:rPr lang="en-US" altLang="zh-CN"/>
              <a:t>sr </a:t>
            </a:r>
            <a:r>
              <a:rPr lang="zh-CN" altLang="en-US"/>
              <a:t>基于</a:t>
            </a:r>
            <a:r>
              <a:rPr lang="en-US" altLang="zh-CN"/>
              <a:t> ATAC</a:t>
            </a:r>
            <a:r>
              <a:rPr lang="zh-CN" altLang="en-US"/>
              <a:t>数据生成的</a:t>
            </a:r>
            <a:r>
              <a:rPr lang="en-US" altLang="zh-CN"/>
              <a:t>RNA </a:t>
            </a:r>
            <a:endParaRPr lang="en-US" altLang="zh-CN"/>
          </a:p>
          <a:p>
            <a:endParaRPr lang="en-US" altLang="zh-CN"/>
          </a:p>
          <a:p>
            <a:r>
              <a:rPr lang="zh-CN" altLang="en-US"/>
              <a:t>使用</a:t>
            </a:r>
            <a:r>
              <a:rPr lang="en-US" altLang="zh-CN"/>
              <a:t>wilcoxon test </a:t>
            </a:r>
            <a:r>
              <a:rPr lang="zh-CN" altLang="en-US"/>
              <a:t>筛选</a:t>
            </a:r>
            <a:r>
              <a:rPr lang="en-US" altLang="zh-CN"/>
              <a:t>DEG, </a:t>
            </a:r>
            <a:r>
              <a:rPr lang="zh-CN" altLang="en-US"/>
              <a:t>每组选取</a:t>
            </a:r>
            <a:r>
              <a:rPr lang="en-US" altLang="zh-CN"/>
              <a:t>top5de DEG</a:t>
            </a:r>
            <a:endParaRPr lang="en-US" altLang="zh-CN"/>
          </a:p>
          <a:p>
            <a:endParaRPr lang="en-US" altLang="zh-CN"/>
          </a:p>
          <a:p>
            <a:r>
              <a:rPr lang="zh-CN" altLang="en-US"/>
              <a:t>可以看到在</a:t>
            </a:r>
            <a:r>
              <a:rPr lang="en-US" altLang="zh-CN"/>
              <a:t>ori data</a:t>
            </a:r>
            <a:r>
              <a:rPr lang="zh-CN" altLang="en-US"/>
              <a:t>中，</a:t>
            </a:r>
            <a:r>
              <a:rPr lang="en-US" altLang="zh-CN"/>
              <a:t>(B </a:t>
            </a:r>
            <a:r>
              <a:rPr lang="en-US" altLang="zh-CN"/>
              <a:t>cell progenitor, Pre-B)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(CD4 M, CD4N CD8N) </a:t>
            </a:r>
            <a:r>
              <a:rPr lang="zh-CN" altLang="en-US"/>
              <a:t>这些</a:t>
            </a:r>
            <a:r>
              <a:rPr lang="en-US" altLang="zh-CN"/>
              <a:t>cluster</a:t>
            </a:r>
            <a:r>
              <a:rPr lang="zh-CN" altLang="en-US"/>
              <a:t>的区分度</a:t>
            </a:r>
            <a:r>
              <a:rPr lang="zh-CN" altLang="en-US"/>
              <a:t>较低，</a:t>
            </a:r>
            <a:endParaRPr lang="zh-CN" altLang="en-US"/>
          </a:p>
          <a:p>
            <a:r>
              <a:rPr lang="zh-CN" altLang="en-US"/>
              <a:t>但在预测后的数据中有明显的</a:t>
            </a:r>
            <a:r>
              <a:rPr lang="zh-CN" altLang="en-US"/>
              <a:t>区分。</a:t>
            </a:r>
            <a:endParaRPr lang="zh-CN" altLang="en-US"/>
          </a:p>
          <a:p>
            <a:endParaRPr lang="zh-CN" altLang="en-US"/>
          </a:p>
          <a:p>
            <a:r>
              <a:rPr lang="zh-CN" altLang="en-US">
                <a:solidFill>
                  <a:srgbClr val="FF0000"/>
                </a:solidFill>
              </a:rPr>
              <a:t>接下来检查这些</a:t>
            </a:r>
            <a:r>
              <a:rPr lang="en-US" altLang="zh-CN">
                <a:solidFill>
                  <a:srgbClr val="FF0000"/>
                </a:solidFill>
              </a:rPr>
              <a:t>DEG </a:t>
            </a:r>
            <a:r>
              <a:rPr lang="zh-CN" altLang="en-US">
                <a:solidFill>
                  <a:srgbClr val="FF0000"/>
                </a:solidFill>
              </a:rPr>
              <a:t>是否真实的记录在数据库中？</a:t>
            </a:r>
            <a:endParaRPr lang="zh-CN" altLang="en-US">
              <a:solidFill>
                <a:srgbClr val="FF0000"/>
              </a:solidFill>
            </a:endParaRPr>
          </a:p>
          <a:p>
            <a:endParaRPr lang="zh-CN" altLang="en-US">
              <a:solidFill>
                <a:srgbClr val="FF0000"/>
              </a:solidFill>
            </a:endParaRPr>
          </a:p>
          <a:p>
            <a:r>
              <a:rPr lang="zh-CN" altLang="en-US">
                <a:solidFill>
                  <a:srgbClr val="FF0000"/>
                </a:solidFill>
              </a:rPr>
              <a:t>这些</a:t>
            </a:r>
            <a:r>
              <a:rPr lang="en-US" altLang="zh-CN">
                <a:solidFill>
                  <a:srgbClr val="FF0000"/>
                </a:solidFill>
              </a:rPr>
              <a:t>DEG </a:t>
            </a:r>
            <a:r>
              <a:rPr lang="zh-CN" altLang="en-US">
                <a:solidFill>
                  <a:srgbClr val="FF0000"/>
                </a:solidFill>
              </a:rPr>
              <a:t>在</a:t>
            </a:r>
            <a:r>
              <a:rPr lang="en-US" altLang="zh-CN">
                <a:solidFill>
                  <a:srgbClr val="FF0000"/>
                </a:solidFill>
              </a:rPr>
              <a:t>UMAP</a:t>
            </a:r>
            <a:r>
              <a:rPr lang="zh-CN" altLang="en-US">
                <a:solidFill>
                  <a:srgbClr val="FF0000"/>
                </a:solidFill>
              </a:rPr>
              <a:t>可视化上的效果？</a:t>
            </a:r>
            <a:endParaRPr lang="zh-CN" altLang="en-US">
              <a:solidFill>
                <a:srgbClr val="FF0000"/>
              </a:solidFill>
            </a:endParaRPr>
          </a:p>
          <a:p>
            <a:endParaRPr lang="zh-CN" altLang="en-US">
              <a:solidFill>
                <a:srgbClr val="FF0000"/>
              </a:solidFill>
            </a:endParaRPr>
          </a:p>
          <a:p>
            <a:r>
              <a:rPr lang="zh-CN" altLang="en-US">
                <a:solidFill>
                  <a:srgbClr val="FF0000"/>
                </a:solidFill>
              </a:rPr>
              <a:t>这些</a:t>
            </a:r>
            <a:r>
              <a:rPr lang="en-US" altLang="zh-CN">
                <a:solidFill>
                  <a:srgbClr val="FF0000"/>
                </a:solidFill>
              </a:rPr>
              <a:t>DEG</a:t>
            </a:r>
            <a:r>
              <a:rPr lang="zh-CN" altLang="en-US">
                <a:solidFill>
                  <a:srgbClr val="FF0000"/>
                </a:solidFill>
              </a:rPr>
              <a:t>是否是因为</a:t>
            </a:r>
            <a:r>
              <a:rPr lang="en-US" altLang="zh-CN">
                <a:solidFill>
                  <a:srgbClr val="FF0000"/>
                </a:solidFill>
              </a:rPr>
              <a:t>ATAC-seq</a:t>
            </a:r>
            <a:r>
              <a:rPr lang="zh-CN" altLang="en-US">
                <a:solidFill>
                  <a:srgbClr val="FF0000"/>
                </a:solidFill>
              </a:rPr>
              <a:t>上的开放帮助捕捉到的？</a:t>
            </a:r>
            <a:endParaRPr lang="zh-CN" altLang="en-US">
              <a:solidFill>
                <a:srgbClr val="FF0000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27395" y="0"/>
            <a:ext cx="6081395" cy="311721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4380" y="3429000"/>
            <a:ext cx="6330315" cy="3336290"/>
          </a:xfrm>
          <a:prstGeom prst="rect">
            <a:avLst/>
          </a:prstGeom>
        </p:spPr>
      </p:pic>
      <p:sp>
        <p:nvSpPr>
          <p:cNvPr id="9" name="Rectangles 8"/>
          <p:cNvSpPr/>
          <p:nvPr/>
        </p:nvSpPr>
        <p:spPr>
          <a:xfrm>
            <a:off x="9752965" y="1858010"/>
            <a:ext cx="1576705" cy="930910"/>
          </a:xfrm>
          <a:prstGeom prst="rect">
            <a:avLst/>
          </a:prstGeom>
          <a:noFill/>
          <a:ln w="28575">
            <a:solidFill>
              <a:srgbClr val="54E265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lumMod val="50000"/>
                  </a:schemeClr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0" name="Rectangles 9"/>
          <p:cNvSpPr/>
          <p:nvPr/>
        </p:nvSpPr>
        <p:spPr>
          <a:xfrm>
            <a:off x="9879965" y="5356860"/>
            <a:ext cx="607060" cy="354965"/>
          </a:xfrm>
          <a:prstGeom prst="rect">
            <a:avLst/>
          </a:prstGeom>
          <a:noFill/>
          <a:ln w="28575">
            <a:solidFill>
              <a:srgbClr val="54E265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lumMod val="50000"/>
                  </a:schemeClr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1" name="Rectangles 10"/>
          <p:cNvSpPr/>
          <p:nvPr/>
        </p:nvSpPr>
        <p:spPr>
          <a:xfrm>
            <a:off x="10426700" y="5711825"/>
            <a:ext cx="607060" cy="346710"/>
          </a:xfrm>
          <a:prstGeom prst="rect">
            <a:avLst/>
          </a:prstGeom>
          <a:noFill/>
          <a:ln w="28575">
            <a:solidFill>
              <a:srgbClr val="54E265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lumMod val="50000"/>
                  </a:schemeClr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2" name="Rectangles 11"/>
          <p:cNvSpPr/>
          <p:nvPr/>
        </p:nvSpPr>
        <p:spPr>
          <a:xfrm>
            <a:off x="10963910" y="5996305"/>
            <a:ext cx="607060" cy="354965"/>
          </a:xfrm>
          <a:prstGeom prst="rect">
            <a:avLst/>
          </a:prstGeom>
          <a:noFill/>
          <a:ln w="28575">
            <a:solidFill>
              <a:srgbClr val="54E265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lumMod val="50000"/>
                  </a:schemeClr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0" y="0"/>
            <a:ext cx="6830695" cy="355727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95" y="3313430"/>
            <a:ext cx="6807200" cy="354457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1625" y="147320"/>
            <a:ext cx="5243195" cy="169545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1625" y="1862455"/>
            <a:ext cx="5242560" cy="1694815"/>
          </a:xfrm>
          <a:prstGeom prst="rect">
            <a:avLst/>
          </a:prstGeom>
        </p:spPr>
      </p:pic>
      <p:sp>
        <p:nvSpPr>
          <p:cNvPr id="8" name="Text Box 7"/>
          <p:cNvSpPr txBox="1"/>
          <p:nvPr/>
        </p:nvSpPr>
        <p:spPr>
          <a:xfrm>
            <a:off x="7098030" y="3905250"/>
            <a:ext cx="422910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OSBPL10 </a:t>
            </a:r>
            <a:r>
              <a:rPr lang="zh-CN" altLang="en-US"/>
              <a:t>这个</a:t>
            </a:r>
            <a:r>
              <a:rPr lang="en-US" altLang="zh-CN"/>
              <a:t>gene </a:t>
            </a:r>
            <a:r>
              <a:rPr lang="zh-CN" altLang="en-US"/>
              <a:t>在生成的数据中</a:t>
            </a:r>
            <a:r>
              <a:rPr lang="en-US" altLang="zh-CN"/>
              <a:t> pre B </a:t>
            </a:r>
            <a:r>
              <a:rPr lang="zh-CN" altLang="en-US"/>
              <a:t>和</a:t>
            </a:r>
            <a:r>
              <a:rPr lang="en-US" altLang="zh-CN"/>
              <a:t> B cell progenitor </a:t>
            </a:r>
            <a:r>
              <a:rPr lang="zh-CN" altLang="en-US"/>
              <a:t>有明显的强度差异，单子啊</a:t>
            </a:r>
            <a:r>
              <a:rPr lang="en-US" altLang="zh-CN"/>
              <a:t>ori</a:t>
            </a:r>
            <a:r>
              <a:rPr lang="zh-CN" altLang="en-US"/>
              <a:t>数据中无法</a:t>
            </a:r>
            <a:r>
              <a:rPr lang="zh-CN" altLang="en-US"/>
              <a:t>体现</a:t>
            </a:r>
            <a:endParaRPr lang="zh-CN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 Box 3"/>
          <p:cNvSpPr txBox="1"/>
          <p:nvPr/>
        </p:nvSpPr>
        <p:spPr>
          <a:xfrm>
            <a:off x="283845" y="60960"/>
            <a:ext cx="597789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Pannel b </a:t>
            </a:r>
            <a:r>
              <a:rPr lang="zh-CN" altLang="en-US">
                <a:sym typeface="+mn-ea"/>
              </a:rPr>
              <a:t>说明</a:t>
            </a:r>
            <a:r>
              <a:rPr lang="en-US" altLang="zh-CN">
                <a:sym typeface="+mn-ea"/>
              </a:rPr>
              <a:t>SR </a:t>
            </a:r>
            <a:r>
              <a:rPr lang="zh-CN" altLang="en-US">
                <a:sym typeface="+mn-ea"/>
              </a:rPr>
              <a:t>的跨模态生成的准确性。</a:t>
            </a:r>
            <a:endParaRPr lang="zh-CN" altLang="en-US"/>
          </a:p>
          <a:p>
            <a:r>
              <a:rPr lang="en-US"/>
              <a:t> </a:t>
            </a:r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28915" y="0"/>
            <a:ext cx="4304665" cy="3557270"/>
          </a:xfrm>
          <a:prstGeom prst="rect">
            <a:avLst/>
          </a:prstGeom>
        </p:spPr>
      </p:pic>
      <p:sp>
        <p:nvSpPr>
          <p:cNvPr id="6" name="Text Box 5"/>
          <p:cNvSpPr txBox="1"/>
          <p:nvPr/>
        </p:nvSpPr>
        <p:spPr>
          <a:xfrm>
            <a:off x="283845" y="502920"/>
            <a:ext cx="6508750" cy="17716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600"/>
              <a:t>上方的图是评估了</a:t>
            </a:r>
            <a:r>
              <a:rPr lang="en-US" altLang="zh-CN" sz="1600"/>
              <a:t> </a:t>
            </a:r>
            <a:r>
              <a:rPr lang="zh-CN" altLang="en-US" sz="1600"/>
              <a:t>原始的</a:t>
            </a:r>
            <a:r>
              <a:rPr lang="en-US" altLang="zh-CN" sz="1600"/>
              <a:t>rna</a:t>
            </a:r>
            <a:r>
              <a:rPr lang="zh-CN" altLang="en-US" sz="1600"/>
              <a:t>数据和</a:t>
            </a:r>
            <a:r>
              <a:rPr lang="en-US" altLang="zh-CN" sz="1600"/>
              <a:t> </a:t>
            </a:r>
            <a:r>
              <a:rPr lang="zh-CN" altLang="en-US" sz="1600"/>
              <a:t>基于</a:t>
            </a:r>
            <a:r>
              <a:rPr lang="en-US" altLang="zh-CN" sz="1600"/>
              <a:t>atac</a:t>
            </a:r>
            <a:r>
              <a:rPr lang="zh-CN" altLang="en-US" sz="1600"/>
              <a:t>生成的</a:t>
            </a:r>
            <a:r>
              <a:rPr lang="en-US" altLang="zh-CN" sz="1600"/>
              <a:t>rna</a:t>
            </a:r>
            <a:r>
              <a:rPr lang="zh-CN" altLang="en-US" sz="1600"/>
              <a:t>数据在细胞类型层面上的相似度。</a:t>
            </a:r>
            <a:endParaRPr lang="zh-CN" altLang="en-US" sz="1600"/>
          </a:p>
          <a:p>
            <a:endParaRPr lang="zh-CN" altLang="en-US" sz="1600"/>
          </a:p>
          <a:p>
            <a:r>
              <a:rPr lang="zh-CN" altLang="en-US" sz="1600"/>
              <a:t>下方的直方图评估了原始的</a:t>
            </a:r>
            <a:r>
              <a:rPr lang="en-US" altLang="zh-CN" sz="1600"/>
              <a:t>rna</a:t>
            </a:r>
            <a:r>
              <a:rPr lang="zh-CN" altLang="en-US" sz="1600"/>
              <a:t>数据</a:t>
            </a:r>
            <a:r>
              <a:rPr lang="en-US" altLang="zh-CN" sz="1600"/>
              <a:t> </a:t>
            </a:r>
            <a:r>
              <a:rPr lang="zh-CN" altLang="en-US" sz="1600"/>
              <a:t>和</a:t>
            </a:r>
            <a:r>
              <a:rPr lang="en-US" altLang="zh-CN" sz="1600"/>
              <a:t> </a:t>
            </a:r>
            <a:r>
              <a:rPr lang="zh-CN" altLang="en-US" sz="1600"/>
              <a:t>基于</a:t>
            </a:r>
            <a:r>
              <a:rPr lang="en-US" altLang="zh-CN" sz="1600"/>
              <a:t>atac</a:t>
            </a:r>
            <a:r>
              <a:rPr lang="zh-CN" altLang="en-US" sz="1600"/>
              <a:t>生成的</a:t>
            </a:r>
            <a:r>
              <a:rPr lang="en-US" altLang="zh-CN" sz="1600"/>
              <a:t>rna </a:t>
            </a:r>
            <a:r>
              <a:rPr lang="zh-CN" altLang="en-US" sz="1600"/>
              <a:t>数据，对</a:t>
            </a:r>
            <a:r>
              <a:rPr lang="en-US" altLang="zh-CN" sz="1600"/>
              <a:t>3k</a:t>
            </a:r>
            <a:r>
              <a:rPr lang="zh-CN" altLang="en-US" sz="1600"/>
              <a:t>个</a:t>
            </a:r>
            <a:r>
              <a:rPr lang="en-US" altLang="zh-CN" sz="1600"/>
              <a:t>HVG</a:t>
            </a:r>
            <a:r>
              <a:rPr lang="zh-CN" altLang="en-US" sz="1600"/>
              <a:t>基因，其在</a:t>
            </a:r>
            <a:r>
              <a:rPr lang="en-US" altLang="zh-CN" sz="1600"/>
              <a:t>9</a:t>
            </a:r>
            <a:r>
              <a:rPr lang="zh-CN" altLang="en-US" sz="1600"/>
              <a:t>个细胞类型表达谱上的相关性系数分布。</a:t>
            </a:r>
            <a:endParaRPr lang="zh-CN" altLang="en-US" sz="1600"/>
          </a:p>
          <a:p>
            <a:endParaRPr lang="zh-CN" altLang="en-US" sz="1600"/>
          </a:p>
          <a:p>
            <a:r>
              <a:rPr lang="zh-CN" altLang="en-US" sz="1600"/>
              <a:t>小提琴图展示了在单细胞层面上的相似性计算结果，</a:t>
            </a:r>
            <a:r>
              <a:rPr lang="en-US" altLang="zh-CN" sz="1600"/>
              <a:t>UMAP </a:t>
            </a:r>
            <a:r>
              <a:rPr lang="zh-CN" altLang="en-US" sz="1600"/>
              <a:t>展示了生成数据和原始数据一起</a:t>
            </a:r>
            <a:r>
              <a:rPr lang="en-US" altLang="zh-CN" sz="1600"/>
              <a:t>umap</a:t>
            </a:r>
            <a:r>
              <a:rPr lang="zh-CN" altLang="en-US" sz="1600"/>
              <a:t>的效果，生成数据和真实数据高度</a:t>
            </a:r>
            <a:r>
              <a:rPr lang="zh-CN" altLang="en-US" sz="1600"/>
              <a:t>接近。</a:t>
            </a:r>
            <a:endParaRPr lang="zh-CN" altLang="en-US" sz="1600"/>
          </a:p>
          <a:p>
            <a:endParaRPr lang="zh-CN" altLang="en-US" sz="1600"/>
          </a:p>
          <a:p>
            <a:r>
              <a:rPr lang="zh-CN" altLang="en-US" sz="1600"/>
              <a:t>上述结果展示了生成的</a:t>
            </a:r>
            <a:r>
              <a:rPr lang="en-US" altLang="zh-CN" sz="1600"/>
              <a:t>rna</a:t>
            </a:r>
            <a:r>
              <a:rPr lang="zh-CN" altLang="en-US" sz="1600"/>
              <a:t>和真实的</a:t>
            </a:r>
            <a:r>
              <a:rPr lang="en-US" altLang="zh-CN" sz="1600"/>
              <a:t>rna</a:t>
            </a:r>
            <a:r>
              <a:rPr lang="zh-CN" altLang="en-US" sz="1600"/>
              <a:t>的一致性</a:t>
            </a:r>
            <a:endParaRPr lang="zh-CN" altLang="en-US" sz="1600"/>
          </a:p>
          <a:p>
            <a:endParaRPr lang="zh-CN" altLang="en-US" sz="160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12175" y="3773170"/>
            <a:ext cx="3727450" cy="222377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5575" y="3773170"/>
            <a:ext cx="2245995" cy="211963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4665" y="3279775"/>
            <a:ext cx="5483860" cy="177292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4665" y="4984115"/>
            <a:ext cx="5233670" cy="169227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 Box 3"/>
          <p:cNvSpPr txBox="1"/>
          <p:nvPr/>
        </p:nvSpPr>
        <p:spPr>
          <a:xfrm>
            <a:off x="470535" y="267970"/>
            <a:ext cx="64681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pannel c: </a:t>
            </a:r>
            <a:r>
              <a:rPr lang="zh-CN" altLang="en-US"/>
              <a:t>说明跨模态生成的数据会比原始数据有更好的</a:t>
            </a:r>
            <a:r>
              <a:rPr lang="zh-CN" altLang="en-US"/>
              <a:t>表现</a:t>
            </a:r>
            <a:endParaRPr lang="zh-CN" alt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26655" y="107315"/>
            <a:ext cx="4567555" cy="333883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F</a:t>
            </a:r>
            <a:r>
              <a:rPr lang="en-US"/>
              <a:t>igure 4: GRN inference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Figure 5</a:t>
            </a:r>
            <a:r>
              <a:rPr lang="zh-CN" altLang="en-US"/>
              <a:t>：</a:t>
            </a:r>
            <a:r>
              <a:rPr lang="en-US" altLang="zh-CN"/>
              <a:t>atlas </a:t>
            </a:r>
            <a:r>
              <a:rPr lang="zh-CN" altLang="en-US"/>
              <a:t>数据增强和</a:t>
            </a:r>
            <a:r>
              <a:rPr lang="en-US" altLang="zh-CN"/>
              <a:t> </a:t>
            </a:r>
            <a:r>
              <a:rPr lang="zh-CN" altLang="en-US"/>
              <a:t>数据库</a:t>
            </a:r>
            <a:r>
              <a:rPr lang="zh-CN" altLang="en-US"/>
              <a:t>构建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sz="1600"/>
              <a:t>a. </a:t>
            </a:r>
            <a:r>
              <a:rPr lang="zh-CN" altLang="en-US" sz="1600"/>
              <a:t>示意图：</a:t>
            </a:r>
            <a:r>
              <a:rPr lang="en-US" altLang="zh-CN" sz="1600"/>
              <a:t> atlas </a:t>
            </a:r>
            <a:r>
              <a:rPr lang="zh-CN" altLang="en-US" sz="1600"/>
              <a:t>数据增强训练策略及匹配数据构建流程</a:t>
            </a:r>
            <a:endParaRPr lang="zh-CN" altLang="en-US" sz="1600"/>
          </a:p>
          <a:p>
            <a:r>
              <a:rPr lang="en-US" altLang="zh-CN" sz="1600"/>
              <a:t>b. </a:t>
            </a:r>
            <a:r>
              <a:rPr lang="zh-CN" altLang="en-US" sz="1600"/>
              <a:t>增强训练评估：</a:t>
            </a:r>
            <a:endParaRPr lang="zh-CN" altLang="en-US" sz="1600"/>
          </a:p>
          <a:p>
            <a:pPr lvl="1"/>
            <a:r>
              <a:rPr lang="zh-CN" altLang="en-US" sz="1600"/>
              <a:t>在独立</a:t>
            </a:r>
            <a:r>
              <a:rPr lang="en-US" altLang="zh-CN" sz="1600"/>
              <a:t>10x</a:t>
            </a:r>
            <a:r>
              <a:rPr lang="zh-CN" altLang="en-US" sz="1600"/>
              <a:t>多组学上验证指标提升</a:t>
            </a:r>
            <a:endParaRPr lang="zh-CN" altLang="en-US" sz="1600"/>
          </a:p>
          <a:p>
            <a:pPr lvl="0"/>
            <a:r>
              <a:rPr lang="en-US" altLang="zh-CN" sz="1600"/>
              <a:t>c. </a:t>
            </a:r>
            <a:r>
              <a:rPr lang="zh-CN" altLang="en-US" sz="1600"/>
              <a:t>基于预训练</a:t>
            </a:r>
            <a:r>
              <a:rPr lang="en-US" altLang="zh-CN" sz="1600"/>
              <a:t>SR</a:t>
            </a:r>
            <a:r>
              <a:rPr lang="zh-CN" altLang="en-US" sz="1600"/>
              <a:t>获取</a:t>
            </a:r>
            <a:r>
              <a:rPr lang="en-US" altLang="zh-CN" sz="1600"/>
              <a:t>atlas cell embedding </a:t>
            </a:r>
            <a:r>
              <a:rPr lang="zh-CN" altLang="en-US" sz="1600"/>
              <a:t>并</a:t>
            </a:r>
            <a:r>
              <a:rPr lang="zh-CN" altLang="en-US" sz="1600"/>
              <a:t>对齐</a:t>
            </a:r>
            <a:endParaRPr lang="zh-CN" altLang="en-US" sz="1600"/>
          </a:p>
          <a:p>
            <a:pPr lvl="1"/>
            <a:r>
              <a:rPr lang="en-US" altLang="zh-CN" sz="1370"/>
              <a:t>UMAP</a:t>
            </a:r>
            <a:r>
              <a:rPr lang="zh-CN" altLang="en-US" sz="1370"/>
              <a:t>展示对齐</a:t>
            </a:r>
            <a:r>
              <a:rPr lang="zh-CN" altLang="en-US" sz="1370"/>
              <a:t>效果</a:t>
            </a:r>
            <a:endParaRPr lang="zh-CN" altLang="en-US" sz="1370"/>
          </a:p>
          <a:p>
            <a:pPr lvl="1"/>
            <a:r>
              <a:rPr lang="zh-CN" altLang="en-US" sz="1370"/>
              <a:t>展示细胞类型对齐</a:t>
            </a:r>
            <a:r>
              <a:rPr lang="zh-CN" altLang="en-US" sz="1370"/>
              <a:t>一致性</a:t>
            </a:r>
            <a:endParaRPr lang="zh-CN" altLang="en-US" sz="1370"/>
          </a:p>
          <a:p>
            <a:pPr lvl="0"/>
            <a:r>
              <a:rPr lang="en-US" altLang="zh-CN" sz="1595"/>
              <a:t>d. </a:t>
            </a:r>
            <a:r>
              <a:rPr lang="zh-CN" altLang="en-US" sz="1595"/>
              <a:t>展示具体的生物学</a:t>
            </a:r>
            <a:r>
              <a:rPr lang="zh-CN" altLang="en-US" sz="1595"/>
              <a:t>应用：</a:t>
            </a:r>
            <a:endParaRPr lang="zh-CN" altLang="en-US" sz="1595"/>
          </a:p>
          <a:p>
            <a:pPr lvl="1"/>
            <a:r>
              <a:rPr lang="en-US" altLang="zh-CN" sz="1365"/>
              <a:t>eg. </a:t>
            </a:r>
            <a:r>
              <a:rPr lang="zh-CN" altLang="en-US" sz="1365"/>
              <a:t>基于对齐数据构建某个细胞类型的</a:t>
            </a:r>
            <a:r>
              <a:rPr lang="en-US" altLang="zh-CN" sz="1365"/>
              <a:t>GRN</a:t>
            </a:r>
            <a:endParaRPr lang="en-US" altLang="zh-CN" sz="1365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31305" y="1691005"/>
            <a:ext cx="5560695" cy="249999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" y="3819525"/>
            <a:ext cx="9934575" cy="2850515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607695" y="454025"/>
            <a:ext cx="42799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BMMC </a:t>
            </a:r>
            <a:r>
              <a:rPr lang="zh-CN" altLang="en-US"/>
              <a:t>数据</a:t>
            </a:r>
            <a:r>
              <a:rPr lang="zh-CN" altLang="en-US"/>
              <a:t>展示</a:t>
            </a:r>
            <a:endParaRPr lang="zh-CN" alt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4195" y="0"/>
            <a:ext cx="3961130" cy="33083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1590</Words>
  <Application>WPS Presentation</Application>
  <PresentationFormat>Widescreen</PresentationFormat>
  <Paragraphs>89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9" baseType="lpstr">
      <vt:lpstr>Arial</vt:lpstr>
      <vt:lpstr>宋体</vt:lpstr>
      <vt:lpstr>Wingdings</vt:lpstr>
      <vt:lpstr>Calibri Light</vt:lpstr>
      <vt:lpstr>Calibri</vt:lpstr>
      <vt:lpstr>微软雅黑</vt:lpstr>
      <vt:lpstr>Arial Unicode MS</vt:lpstr>
      <vt:lpstr>Office Theme</vt:lpstr>
      <vt:lpstr>Figure 1: SR 方法介绍</vt:lpstr>
      <vt:lpstr>Figure 2: SR 在unpaired 数据整合上的表现</vt:lpstr>
      <vt:lpstr>Figure 3: 说明SR 在跨模态生成能力上的表现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/>
  <cp:lastModifiedBy>WPS_1710083965</cp:lastModifiedBy>
  <cp:revision>28</cp:revision>
  <dcterms:created xsi:type="dcterms:W3CDTF">2025-07-23T00:59:00Z</dcterms:created>
  <dcterms:modified xsi:type="dcterms:W3CDTF">2025-11-19T15:30:18Z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53D98EA922644B478A13410A32A3BB50_13</vt:lpwstr>
  </property>
  <property fmtid="{D5CDD505-2E9C-101B-9397-08002B2CF9AE}" pid="3" name="KSOProductBuildVer">
    <vt:lpwstr>1033-12.2.0.23155</vt:lpwstr>
  </property>
</Properties>
</file>